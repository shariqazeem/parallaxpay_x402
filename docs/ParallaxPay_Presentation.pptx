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Shariq Azeem, and I built ParallaxPay for the x402 Solana Hackathon. This is a decentralized AI oracle that predicts cryptocurrency prices using multi-provider consensus and x402 micropayments.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crypto oracles have major problems. They charge $99 per month, only cover Bitcoin and Ethereum, rely on centralized providers, and give you zero transparency. If you want to predict smaller altcoins or DeFi tokens? You're out of luck.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ParallaxPay solves all of this. You get 152 different cryptocurrencies, multi-provider AI consensus through Gradient Parallax, x402 micropayments at less than a penny per query - that's 92% cost savings - and it runs autonomously 24/7.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how it works. Here I'm selecting BNB, one of 152 supported coins. Click 'Make Prediction' and watch - three AI providers from the Parallax network analyze the market and vote on the prediction. This is multi-provider consensus in action. The result? A prediction with 85% confidence that cost $0.0008. Traditional APIs would charge you a monthly subscription for just a fraction of this coverage.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this truly decentralized? The marketplace. These are real Parallax nodes running on the network, competing for requests based on performance. Anyone can become a provider, and the best ones earn rewards. It's a true permissionless AI marketplace.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interaction is tracked on-chain. The analytics dashboard shows your cost savings - 92% compared to traditional APIs - prediction accuracy over time, and complete transaction history. Full transparency powered by Solana and x402.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tech stack: Next.js frontend, Solana with x402 for micropayments, Gradient Parallax for distributed AI inference, and Supabase for data persistence. The entire platform is containerized and deployed on Oracle Cloud. Users can even deploy their own custom agents with one click from the agent builder.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ParallaxPay win? We support 152 cryptocurrencies versus competitors' 4 or 5. This is real Parallax integration with real x402 micropayments - fully on-chain and verifiable. Users save 92%, run agents autonomously, and it's production-ready right now at parallaxpay.online. This isn't a proof of concept - it's infrastructure for the future of AI agents on Solana.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914400" y="2286000"/>
            <a:ext cx="12801600" cy="1371600"/>
          </a:xfrm>
          <a:prstGeom prst="rect">
            <a:avLst/>
          </a:prstGeom>
          <a:noFill/>
        </p:spPr>
        <p:txBody>
          <a:bodyPr wrap="none">
            <a:spAutoFit/>
          </a:bodyPr>
          <a:lstStyle/>
          <a:p>
            <a:pPr algn="ctr">
              <a:defRPr sz="9600" b="1">
                <a:solidFill>
                  <a:srgbClr val="14F195"/>
                </a:solidFill>
              </a:defRPr>
            </a:pPr>
            <a:r>
              <a:t>ParallaxPay</a:t>
            </a:r>
          </a:p>
        </p:txBody>
      </p:sp>
      <p:sp>
        <p:nvSpPr>
          <p:cNvPr id="3" name="TextBox 2"/>
          <p:cNvSpPr txBox="1"/>
          <p:nvPr/>
        </p:nvSpPr>
        <p:spPr>
          <a:xfrm>
            <a:off x="914400" y="3657600"/>
            <a:ext cx="12801600" cy="914400"/>
          </a:xfrm>
          <a:prstGeom prst="rect">
            <a:avLst/>
          </a:prstGeom>
          <a:noFill/>
        </p:spPr>
        <p:txBody>
          <a:bodyPr wrap="none">
            <a:spAutoFit/>
          </a:bodyPr>
          <a:lstStyle/>
          <a:p>
            <a:pPr algn="ctr">
              <a:defRPr sz="3200">
                <a:solidFill>
                  <a:srgbClr val="FFFFFF"/>
                </a:solidFill>
              </a:defRPr>
            </a:pPr>
            <a:r>
              <a:t>AI-Powered Crypto Oracle with x402 Micropayments</a:t>
            </a:r>
          </a:p>
        </p:txBody>
      </p:sp>
      <p:sp>
        <p:nvSpPr>
          <p:cNvPr id="4" name="TextBox 3"/>
          <p:cNvSpPr txBox="1"/>
          <p:nvPr/>
        </p:nvSpPr>
        <p:spPr>
          <a:xfrm>
            <a:off x="914400" y="5029200"/>
            <a:ext cx="12801600" cy="731520"/>
          </a:xfrm>
          <a:prstGeom prst="rect">
            <a:avLst/>
          </a:prstGeom>
          <a:noFill/>
        </p:spPr>
        <p:txBody>
          <a:bodyPr wrap="none">
            <a:spAutoFit/>
          </a:bodyPr>
          <a:lstStyle/>
          <a:p>
            <a:pPr algn="ctr">
              <a:defRPr sz="2400">
                <a:solidFill>
                  <a:srgbClr val="00FFA3"/>
                </a:solidFill>
              </a:defRPr>
            </a:pPr>
            <a:r>
              <a:t>x402 Solana Hackathon - Parallax Eco Track</a:t>
            </a:r>
          </a:p>
        </p:txBody>
      </p:sp>
      <p:sp>
        <p:nvSpPr>
          <p:cNvPr id="5" name="TextBox 4"/>
          <p:cNvSpPr txBox="1"/>
          <p:nvPr/>
        </p:nvSpPr>
        <p:spPr>
          <a:xfrm>
            <a:off x="914400" y="5943600"/>
            <a:ext cx="12801600" cy="457200"/>
          </a:xfrm>
          <a:prstGeom prst="rect">
            <a:avLst/>
          </a:prstGeom>
          <a:noFill/>
        </p:spPr>
        <p:txBody>
          <a:bodyPr wrap="none">
            <a:spAutoFit/>
          </a:bodyPr>
          <a:lstStyle/>
          <a:p>
            <a:pPr algn="ctr">
              <a:defRPr sz="2800">
                <a:solidFill>
                  <a:srgbClr val="FFFFFF"/>
                </a:solidFill>
              </a:defRPr>
            </a:pPr>
            <a:r>
              <a:t>Shariq Azeem</a:t>
            </a:r>
          </a:p>
        </p:txBody>
      </p:sp>
      <p:sp>
        <p:nvSpPr>
          <p:cNvPr id="6" name="TextBox 5"/>
          <p:cNvSpPr txBox="1"/>
          <p:nvPr/>
        </p:nvSpPr>
        <p:spPr>
          <a:xfrm>
            <a:off x="914400" y="6858000"/>
            <a:ext cx="12801600" cy="731520"/>
          </a:xfrm>
          <a:prstGeom prst="rect">
            <a:avLst/>
          </a:prstGeom>
          <a:noFill/>
        </p:spPr>
        <p:txBody>
          <a:bodyPr wrap="none">
            <a:spAutoFit/>
          </a:bodyPr>
          <a:lstStyle/>
          <a:p>
            <a:pPr algn="ctr">
              <a:defRPr sz="1800" i="1">
                <a:solidFill>
                  <a:srgbClr val="969696"/>
                </a:solidFill>
              </a:defRPr>
            </a:pPr>
            <a:r>
              <a:t>[Add screenshot: Landing page hero from https://parallaxpay.online]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3716000" cy="914400"/>
          </a:xfrm>
          <a:prstGeom prst="rect">
            <a:avLst/>
          </a:prstGeom>
          <a:noFill/>
        </p:spPr>
        <p:txBody>
          <a:bodyPr wrap="none">
            <a:spAutoFit/>
          </a:bodyPr>
          <a:lstStyle/>
          <a:p>
            <a:pPr algn="ctr">
              <a:defRPr sz="4800" b="1">
                <a:solidFill>
                  <a:srgbClr val="8A2BE2"/>
                </a:solidFill>
              </a:defRPr>
            </a:pPr>
            <a:r>
              <a:t>The Problem with Traditional Oracles</a:t>
            </a:r>
          </a:p>
        </p:txBody>
      </p:sp>
      <p:sp>
        <p:nvSpPr>
          <p:cNvPr id="3" name="TextBox 2"/>
          <p:cNvSpPr txBox="1"/>
          <p:nvPr/>
        </p:nvSpPr>
        <p:spPr>
          <a:xfrm>
            <a:off x="914400" y="1645920"/>
            <a:ext cx="12801600" cy="4572000"/>
          </a:xfrm>
          <a:prstGeom prst="rect">
            <a:avLst/>
          </a:prstGeom>
          <a:noFill/>
        </p:spPr>
        <p:txBody>
          <a:bodyPr wrap="square">
            <a:spAutoFit/>
          </a:bodyPr>
          <a:lstStyle/>
          <a:p>
            <a:pPr>
              <a:spcBef>
                <a:spcPts val="1800"/>
              </a:spcBef>
              <a:spcAft>
                <a:spcPts val="1800"/>
              </a:spcAft>
              <a:defRPr sz="3200">
                <a:solidFill>
                  <a:srgbClr val="FFFFFF"/>
                </a:solidFill>
              </a:defRPr>
            </a:pPr>
            <a:r>
              <a:t>💸 Traditional APIs: $99/month for basic coverage</a:t>
            </a:r>
          </a:p>
          <a:p>
            <a:pPr>
              <a:spcBef>
                <a:spcPts val="1800"/>
              </a:spcBef>
              <a:spcAft>
                <a:spcPts val="1800"/>
              </a:spcAft>
              <a:defRPr sz="3200">
                <a:solidFill>
                  <a:srgbClr val="FFFFFF"/>
                </a:solidFill>
              </a:defRPr>
            </a:pPr>
            <a:r>
              <a:t>🔒 Limited to 4-5 major cryptocurrencies</a:t>
            </a:r>
          </a:p>
          <a:p>
            <a:pPr>
              <a:spcBef>
                <a:spcPts val="1800"/>
              </a:spcBef>
              <a:spcAft>
                <a:spcPts val="1800"/>
              </a:spcAft>
              <a:defRPr sz="3200">
                <a:solidFill>
                  <a:srgbClr val="FFFFFF"/>
                </a:solidFill>
              </a:defRPr>
            </a:pPr>
            <a:r>
              <a:t>🏢 Centralized providers (single point of failure)</a:t>
            </a:r>
          </a:p>
          <a:p>
            <a:pPr>
              <a:spcBef>
                <a:spcPts val="1800"/>
              </a:spcBef>
              <a:spcAft>
                <a:spcPts val="1800"/>
              </a:spcAft>
              <a:defRPr sz="3200">
                <a:solidFill>
                  <a:srgbClr val="FFFFFF"/>
                </a:solidFill>
              </a:defRPr>
            </a:pPr>
            <a:r>
              <a:t>⚠️ No transparency in prediction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3716000" cy="914400"/>
          </a:xfrm>
          <a:prstGeom prst="rect">
            <a:avLst/>
          </a:prstGeom>
          <a:noFill/>
        </p:spPr>
        <p:txBody>
          <a:bodyPr wrap="none">
            <a:spAutoFit/>
          </a:bodyPr>
          <a:lstStyle/>
          <a:p>
            <a:pPr algn="ctr">
              <a:defRPr sz="4800" b="1">
                <a:solidFill>
                  <a:srgbClr val="8A2BE2"/>
                </a:solidFill>
              </a:defRPr>
            </a:pPr>
            <a:r>
              <a:t>ParallaxPay Solution</a:t>
            </a:r>
          </a:p>
        </p:txBody>
      </p:sp>
      <p:sp>
        <p:nvSpPr>
          <p:cNvPr id="3" name="TextBox 2"/>
          <p:cNvSpPr txBox="1"/>
          <p:nvPr/>
        </p:nvSpPr>
        <p:spPr>
          <a:xfrm>
            <a:off x="914400" y="1645920"/>
            <a:ext cx="12801600" cy="4114800"/>
          </a:xfrm>
          <a:prstGeom prst="rect">
            <a:avLst/>
          </a:prstGeom>
          <a:noFill/>
        </p:spPr>
        <p:txBody>
          <a:bodyPr wrap="square">
            <a:spAutoFit/>
          </a:bodyPr>
          <a:lstStyle/>
          <a:p>
            <a:pPr>
              <a:spcBef>
                <a:spcPts val="1800"/>
              </a:spcBef>
              <a:spcAft>
                <a:spcPts val="1800"/>
              </a:spcAft>
              <a:defRPr sz="3200">
                <a:solidFill>
                  <a:srgbClr val="FFFFFF"/>
                </a:solidFill>
              </a:defRPr>
            </a:pPr>
            <a:r>
              <a:t>🪙 152+ Cryptocurrencies - From Bitcoin to meme coins</a:t>
            </a:r>
          </a:p>
          <a:p>
            <a:pPr>
              <a:spcBef>
                <a:spcPts val="1800"/>
              </a:spcBef>
              <a:spcAft>
                <a:spcPts val="1800"/>
              </a:spcAft>
              <a:defRPr sz="3200">
                <a:solidFill>
                  <a:srgbClr val="FFFFFF"/>
                </a:solidFill>
              </a:defRPr>
            </a:pPr>
            <a:r>
              <a:t>🤖 Multi-Provider AI Consensus - Powered by Gradient Parallax</a:t>
            </a:r>
          </a:p>
          <a:p>
            <a:pPr>
              <a:spcBef>
                <a:spcPts val="1800"/>
              </a:spcBef>
              <a:spcAft>
                <a:spcPts val="1800"/>
              </a:spcAft>
              <a:defRPr sz="3200">
                <a:solidFill>
                  <a:srgbClr val="FFFFFF"/>
                </a:solidFill>
              </a:defRPr>
            </a:pPr>
            <a:r>
              <a:t>💰 x402 Micropayments - Pay $0.0008 per query (92% savings)</a:t>
            </a:r>
          </a:p>
          <a:p>
            <a:pPr>
              <a:spcBef>
                <a:spcPts val="1800"/>
              </a:spcBef>
              <a:spcAft>
                <a:spcPts val="1800"/>
              </a:spcAft>
              <a:defRPr sz="3200">
                <a:solidFill>
                  <a:srgbClr val="FFFFFF"/>
                </a:solidFill>
              </a:defRPr>
            </a:pPr>
            <a:r>
              <a:t>🔄 Autonomous Operation - 24/7 automated predictions</a:t>
            </a:r>
          </a:p>
        </p:txBody>
      </p:sp>
      <p:sp>
        <p:nvSpPr>
          <p:cNvPr id="4" name="TextBox 3"/>
          <p:cNvSpPr txBox="1"/>
          <p:nvPr/>
        </p:nvSpPr>
        <p:spPr>
          <a:xfrm>
            <a:off x="914400" y="7132320"/>
            <a:ext cx="12801600" cy="731520"/>
          </a:xfrm>
          <a:prstGeom prst="rect">
            <a:avLst/>
          </a:prstGeom>
          <a:noFill/>
        </p:spPr>
        <p:txBody>
          <a:bodyPr wrap="none">
            <a:spAutoFit/>
          </a:bodyPr>
          <a:lstStyle/>
          <a:p>
            <a:pPr algn="ctr">
              <a:defRPr sz="1600" i="1">
                <a:solidFill>
                  <a:srgbClr val="969696"/>
                </a:solidFill>
              </a:defRPr>
            </a:pPr>
            <a:r>
              <a:t>[Add screenshot: Oracle page with coin selector dropdown showing many coins]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3716000" cy="914400"/>
          </a:xfrm>
          <a:prstGeom prst="rect">
            <a:avLst/>
          </a:prstGeom>
          <a:noFill/>
        </p:spPr>
        <p:txBody>
          <a:bodyPr wrap="none">
            <a:spAutoFit/>
          </a:bodyPr>
          <a:lstStyle/>
          <a:p>
            <a:pPr algn="ctr">
              <a:defRPr sz="4800" b="1">
                <a:solidFill>
                  <a:srgbClr val="8A2BE2"/>
                </a:solidFill>
              </a:defRPr>
            </a:pPr>
            <a:r>
              <a:t>Market Oracle in Action</a:t>
            </a:r>
          </a:p>
        </p:txBody>
      </p:sp>
      <p:sp>
        <p:nvSpPr>
          <p:cNvPr id="3" name="TextBox 2"/>
          <p:cNvSpPr txBox="1"/>
          <p:nvPr/>
        </p:nvSpPr>
        <p:spPr>
          <a:xfrm>
            <a:off x="914400" y="1645920"/>
            <a:ext cx="12801600" cy="4114800"/>
          </a:xfrm>
          <a:prstGeom prst="rect">
            <a:avLst/>
          </a:prstGeom>
          <a:noFill/>
        </p:spPr>
        <p:txBody>
          <a:bodyPr wrap="square">
            <a:spAutoFit/>
          </a:bodyPr>
          <a:lstStyle/>
          <a:p>
            <a:pPr>
              <a:spcBef>
                <a:spcPts val="1800"/>
              </a:spcBef>
              <a:spcAft>
                <a:spcPts val="1800"/>
              </a:spcAft>
              <a:defRPr sz="3200">
                <a:solidFill>
                  <a:srgbClr val="FFFFFF"/>
                </a:solidFill>
              </a:defRPr>
            </a:pPr>
            <a:r>
              <a:t>✓ Select from 152+ cryptocurrencies</a:t>
            </a:r>
          </a:p>
          <a:p>
            <a:pPr>
              <a:spcBef>
                <a:spcPts val="1800"/>
              </a:spcBef>
              <a:spcAft>
                <a:spcPts val="1800"/>
              </a:spcAft>
              <a:defRPr sz="3200">
                <a:solidFill>
                  <a:srgbClr val="FFFFFF"/>
                </a:solidFill>
              </a:defRPr>
            </a:pPr>
            <a:r>
              <a:t>✓ Multi-provider AI consensus voting</a:t>
            </a:r>
          </a:p>
          <a:p>
            <a:pPr>
              <a:spcBef>
                <a:spcPts val="1800"/>
              </a:spcBef>
              <a:spcAft>
                <a:spcPts val="1800"/>
              </a:spcAft>
              <a:defRPr sz="3200">
                <a:solidFill>
                  <a:srgbClr val="FFFFFF"/>
                </a:solidFill>
              </a:defRPr>
            </a:pPr>
            <a:r>
              <a:t>✓ Cost: $0.0008 per prediction</a:t>
            </a:r>
          </a:p>
          <a:p>
            <a:pPr>
              <a:spcBef>
                <a:spcPts val="1800"/>
              </a:spcBef>
              <a:spcAft>
                <a:spcPts val="1800"/>
              </a:spcAft>
              <a:defRPr sz="3200">
                <a:solidFill>
                  <a:srgbClr val="FFFFFF"/>
                </a:solidFill>
              </a:defRPr>
            </a:pPr>
            <a:r>
              <a:t>✓ 85%+ confidence scores</a:t>
            </a:r>
          </a:p>
          <a:p>
            <a:pPr>
              <a:spcBef>
                <a:spcPts val="1800"/>
              </a:spcBef>
              <a:spcAft>
                <a:spcPts val="1800"/>
              </a:spcAft>
              <a:defRPr sz="3200">
                <a:solidFill>
                  <a:srgbClr val="FFFFFF"/>
                </a:solidFill>
              </a:defRPr>
            </a:pPr>
            <a:r>
              <a:t>✓ Real-time market analysis</a:t>
            </a:r>
          </a:p>
        </p:txBody>
      </p:sp>
      <p:sp>
        <p:nvSpPr>
          <p:cNvPr id="4" name="TextBox 3"/>
          <p:cNvSpPr txBox="1"/>
          <p:nvPr/>
        </p:nvSpPr>
        <p:spPr>
          <a:xfrm>
            <a:off x="914400" y="7132320"/>
            <a:ext cx="12801600" cy="731520"/>
          </a:xfrm>
          <a:prstGeom prst="rect">
            <a:avLst/>
          </a:prstGeom>
          <a:noFill/>
        </p:spPr>
        <p:txBody>
          <a:bodyPr wrap="none">
            <a:spAutoFit/>
          </a:bodyPr>
          <a:lstStyle/>
          <a:p>
            <a:pPr algn="ctr">
              <a:defRPr sz="1600" i="1">
                <a:solidFill>
                  <a:srgbClr val="969696"/>
                </a:solidFill>
              </a:defRPr>
            </a:pPr>
            <a:r>
              <a:t>[Add 3 screenshots: 1) Oracle page with BNB selected, 2) Prediction loading, 3) Result with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3716000" cy="914400"/>
          </a:xfrm>
          <a:prstGeom prst="rect">
            <a:avLst/>
          </a:prstGeom>
          <a:noFill/>
        </p:spPr>
        <p:txBody>
          <a:bodyPr wrap="none">
            <a:spAutoFit/>
          </a:bodyPr>
          <a:lstStyle/>
          <a:p>
            <a:pPr algn="ctr">
              <a:defRPr sz="4800" b="1">
                <a:solidFill>
                  <a:srgbClr val="8A2BE2"/>
                </a:solidFill>
              </a:defRPr>
            </a:pPr>
            <a:r>
              <a:t>Open AI Marketplace</a:t>
            </a:r>
          </a:p>
        </p:txBody>
      </p:sp>
      <p:sp>
        <p:nvSpPr>
          <p:cNvPr id="3" name="TextBox 2"/>
          <p:cNvSpPr txBox="1"/>
          <p:nvPr/>
        </p:nvSpPr>
        <p:spPr>
          <a:xfrm>
            <a:off x="914400" y="1645920"/>
            <a:ext cx="12801600" cy="4114800"/>
          </a:xfrm>
          <a:prstGeom prst="rect">
            <a:avLst/>
          </a:prstGeom>
          <a:noFill/>
        </p:spPr>
        <p:txBody>
          <a:bodyPr wrap="square">
            <a:spAutoFit/>
          </a:bodyPr>
          <a:lstStyle/>
          <a:p>
            <a:pPr>
              <a:spcBef>
                <a:spcPts val="1800"/>
              </a:spcBef>
              <a:spcAft>
                <a:spcPts val="1800"/>
              </a:spcAft>
              <a:defRPr sz="3200">
                <a:solidFill>
                  <a:srgbClr val="FFFFFF"/>
                </a:solidFill>
              </a:defRPr>
            </a:pPr>
            <a:r>
              <a:t>🌐 Real Parallax nodes competing for requests</a:t>
            </a:r>
          </a:p>
          <a:p>
            <a:pPr>
              <a:spcBef>
                <a:spcPts val="1800"/>
              </a:spcBef>
              <a:spcAft>
                <a:spcPts val="1800"/>
              </a:spcAft>
              <a:defRPr sz="3200">
                <a:solidFill>
                  <a:srgbClr val="FFFFFF"/>
                </a:solidFill>
              </a:defRPr>
            </a:pPr>
            <a:r>
              <a:t>📊 Performance metrics &amp; reputation scores</a:t>
            </a:r>
          </a:p>
          <a:p>
            <a:pPr>
              <a:spcBef>
                <a:spcPts val="1800"/>
              </a:spcBef>
              <a:spcAft>
                <a:spcPts val="1800"/>
              </a:spcAft>
              <a:defRPr sz="3200">
                <a:solidFill>
                  <a:srgbClr val="FFFFFF"/>
                </a:solidFill>
              </a:defRPr>
            </a:pPr>
            <a:r>
              <a:t>🚀 Anyone can become a provider</a:t>
            </a:r>
          </a:p>
          <a:p>
            <a:pPr>
              <a:spcBef>
                <a:spcPts val="1800"/>
              </a:spcBef>
              <a:spcAft>
                <a:spcPts val="1800"/>
              </a:spcAft>
              <a:defRPr sz="3200">
                <a:solidFill>
                  <a:srgbClr val="FFFFFF"/>
                </a:solidFill>
              </a:defRPr>
            </a:pPr>
            <a:r>
              <a:t>💎 Best providers get rewarded</a:t>
            </a:r>
          </a:p>
          <a:p>
            <a:pPr>
              <a:spcBef>
                <a:spcPts val="1800"/>
              </a:spcBef>
              <a:spcAft>
                <a:spcPts val="1800"/>
              </a:spcAft>
              <a:defRPr sz="3200">
                <a:solidFill>
                  <a:srgbClr val="FFFFFF"/>
                </a:solidFill>
              </a:defRPr>
            </a:pPr>
            <a:r>
              <a:t>⚡ Permissionless participation</a:t>
            </a:r>
          </a:p>
        </p:txBody>
      </p:sp>
      <p:sp>
        <p:nvSpPr>
          <p:cNvPr id="4" name="TextBox 3"/>
          <p:cNvSpPr txBox="1"/>
          <p:nvPr/>
        </p:nvSpPr>
        <p:spPr>
          <a:xfrm>
            <a:off x="914400" y="7132320"/>
            <a:ext cx="12801600" cy="731520"/>
          </a:xfrm>
          <a:prstGeom prst="rect">
            <a:avLst/>
          </a:prstGeom>
          <a:noFill/>
        </p:spPr>
        <p:txBody>
          <a:bodyPr wrap="none">
            <a:spAutoFit/>
          </a:bodyPr>
          <a:lstStyle/>
          <a:p>
            <a:pPr algn="ctr">
              <a:defRPr sz="1600" i="1">
                <a:solidFill>
                  <a:srgbClr val="969696"/>
                </a:solidFill>
              </a:defRPr>
            </a:pPr>
            <a:r>
              <a:t>[Add screenshot: Marketplace page showing provider cards with stats]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3716000" cy="914400"/>
          </a:xfrm>
          <a:prstGeom prst="rect">
            <a:avLst/>
          </a:prstGeom>
          <a:noFill/>
        </p:spPr>
        <p:txBody>
          <a:bodyPr wrap="none">
            <a:spAutoFit/>
          </a:bodyPr>
          <a:lstStyle/>
          <a:p>
            <a:pPr algn="ctr">
              <a:defRPr sz="4800" b="1">
                <a:solidFill>
                  <a:srgbClr val="8A2BE2"/>
                </a:solidFill>
              </a:defRPr>
            </a:pPr>
            <a:r>
              <a:t>Complete Transparency</a:t>
            </a:r>
          </a:p>
        </p:txBody>
      </p:sp>
      <p:sp>
        <p:nvSpPr>
          <p:cNvPr id="3" name="TextBox 2"/>
          <p:cNvSpPr txBox="1"/>
          <p:nvPr/>
        </p:nvSpPr>
        <p:spPr>
          <a:xfrm>
            <a:off x="914400" y="1645920"/>
            <a:ext cx="12801600" cy="4114800"/>
          </a:xfrm>
          <a:prstGeom prst="rect">
            <a:avLst/>
          </a:prstGeom>
          <a:noFill/>
        </p:spPr>
        <p:txBody>
          <a:bodyPr wrap="square">
            <a:spAutoFit/>
          </a:bodyPr>
          <a:lstStyle/>
          <a:p>
            <a:pPr>
              <a:spcBef>
                <a:spcPts val="1800"/>
              </a:spcBef>
              <a:spcAft>
                <a:spcPts val="1800"/>
              </a:spcAft>
              <a:defRPr sz="3200">
                <a:solidFill>
                  <a:srgbClr val="FFFFFF"/>
                </a:solidFill>
              </a:defRPr>
            </a:pPr>
            <a:r>
              <a:t>📈 Real-time cost comparison charts</a:t>
            </a:r>
          </a:p>
          <a:p>
            <a:pPr>
              <a:spcBef>
                <a:spcPts val="1800"/>
              </a:spcBef>
              <a:spcAft>
                <a:spcPts val="1800"/>
              </a:spcAft>
              <a:defRPr sz="3200">
                <a:solidFill>
                  <a:srgbClr val="FFFFFF"/>
                </a:solidFill>
              </a:defRPr>
            </a:pPr>
            <a:r>
              <a:t>💰 92% savings vs traditional APIs</a:t>
            </a:r>
          </a:p>
          <a:p>
            <a:pPr>
              <a:spcBef>
                <a:spcPts val="1800"/>
              </a:spcBef>
              <a:spcAft>
                <a:spcPts val="1800"/>
              </a:spcAft>
              <a:defRPr sz="3200">
                <a:solidFill>
                  <a:srgbClr val="FFFFFF"/>
                </a:solidFill>
              </a:defRPr>
            </a:pPr>
            <a:r>
              <a:t>🎯 Prediction accuracy tracking</a:t>
            </a:r>
          </a:p>
          <a:p>
            <a:pPr>
              <a:spcBef>
                <a:spcPts val="1800"/>
              </a:spcBef>
              <a:spcAft>
                <a:spcPts val="1800"/>
              </a:spcAft>
              <a:defRPr sz="3200">
                <a:solidFill>
                  <a:srgbClr val="FFFFFF"/>
                </a:solidFill>
              </a:defRPr>
            </a:pPr>
            <a:r>
              <a:t>🔗 Full x402 transaction history</a:t>
            </a:r>
          </a:p>
          <a:p>
            <a:pPr>
              <a:spcBef>
                <a:spcPts val="1800"/>
              </a:spcBef>
              <a:spcAft>
                <a:spcPts val="1800"/>
              </a:spcAft>
              <a:defRPr sz="3200">
                <a:solidFill>
                  <a:srgbClr val="FFFFFF"/>
                </a:solidFill>
              </a:defRPr>
            </a:pPr>
            <a:r>
              <a:t>✅ Every interaction on-chain</a:t>
            </a:r>
          </a:p>
        </p:txBody>
      </p:sp>
      <p:sp>
        <p:nvSpPr>
          <p:cNvPr id="4" name="TextBox 3"/>
          <p:cNvSpPr txBox="1"/>
          <p:nvPr/>
        </p:nvSpPr>
        <p:spPr>
          <a:xfrm>
            <a:off x="914400" y="7132320"/>
            <a:ext cx="12801600" cy="731520"/>
          </a:xfrm>
          <a:prstGeom prst="rect">
            <a:avLst/>
          </a:prstGeom>
          <a:noFill/>
        </p:spPr>
        <p:txBody>
          <a:bodyPr wrap="none">
            <a:spAutoFit/>
          </a:bodyPr>
          <a:lstStyle/>
          <a:p>
            <a:pPr algn="ctr">
              <a:defRPr sz="1600" i="1">
                <a:solidFill>
                  <a:srgbClr val="969696"/>
                </a:solidFill>
              </a:defRPr>
            </a:pPr>
            <a:r>
              <a:t>[Add screenshots: Analytics dashboard + Transaction history 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3716000" cy="914400"/>
          </a:xfrm>
          <a:prstGeom prst="rect">
            <a:avLst/>
          </a:prstGeom>
          <a:noFill/>
        </p:spPr>
        <p:txBody>
          <a:bodyPr wrap="none">
            <a:spAutoFit/>
          </a:bodyPr>
          <a:lstStyle/>
          <a:p>
            <a:pPr algn="ctr">
              <a:defRPr sz="4800" b="1">
                <a:solidFill>
                  <a:srgbClr val="8A2BE2"/>
                </a:solidFill>
              </a:defRPr>
            </a:pPr>
            <a:r>
              <a:t>Built on Cutting-Edge Tech</a:t>
            </a:r>
          </a:p>
        </p:txBody>
      </p:sp>
      <p:sp>
        <p:nvSpPr>
          <p:cNvPr id="3" name="TextBox 2"/>
          <p:cNvSpPr txBox="1"/>
          <p:nvPr/>
        </p:nvSpPr>
        <p:spPr>
          <a:xfrm>
            <a:off x="914400" y="1645920"/>
            <a:ext cx="12801600" cy="4114800"/>
          </a:xfrm>
          <a:prstGeom prst="rect">
            <a:avLst/>
          </a:prstGeom>
          <a:noFill/>
        </p:spPr>
        <p:txBody>
          <a:bodyPr wrap="square">
            <a:spAutoFit/>
          </a:bodyPr>
          <a:lstStyle/>
          <a:p>
            <a:pPr>
              <a:spcBef>
                <a:spcPts val="1800"/>
              </a:spcBef>
              <a:spcAft>
                <a:spcPts val="1800"/>
              </a:spcAft>
              <a:defRPr sz="3200">
                <a:solidFill>
                  <a:srgbClr val="FFFFFF"/>
                </a:solidFill>
              </a:defRPr>
            </a:pPr>
            <a:r>
              <a:t>⚛️ Frontend: Next.js + TypeScript + TailwindCSS</a:t>
            </a:r>
          </a:p>
          <a:p>
            <a:pPr>
              <a:spcBef>
                <a:spcPts val="1800"/>
              </a:spcBef>
              <a:spcAft>
                <a:spcPts val="1800"/>
              </a:spcAft>
              <a:defRPr sz="3200">
                <a:solidFill>
                  <a:srgbClr val="FFFFFF"/>
                </a:solidFill>
              </a:defRPr>
            </a:pPr>
            <a:r>
              <a:t>⛓️ Blockchain: Solana (x402 protocol)</a:t>
            </a:r>
          </a:p>
          <a:p>
            <a:pPr>
              <a:spcBef>
                <a:spcPts val="1800"/>
              </a:spcBef>
              <a:spcAft>
                <a:spcPts val="1800"/>
              </a:spcAft>
              <a:defRPr sz="3200">
                <a:solidFill>
                  <a:srgbClr val="FFFFFF"/>
                </a:solidFill>
              </a:defRPr>
            </a:pPr>
            <a:r>
              <a:t>🤖 AI Layer: Gradient Parallax distributed inference</a:t>
            </a:r>
          </a:p>
          <a:p>
            <a:pPr>
              <a:spcBef>
                <a:spcPts val="1800"/>
              </a:spcBef>
              <a:spcAft>
                <a:spcPts val="1800"/>
              </a:spcAft>
              <a:defRPr sz="3200">
                <a:solidFill>
                  <a:srgbClr val="FFFFFF"/>
                </a:solidFill>
              </a:defRPr>
            </a:pPr>
            <a:r>
              <a:t>💾 Data: Supabase PostgreSQL</a:t>
            </a:r>
          </a:p>
          <a:p>
            <a:pPr>
              <a:spcBef>
                <a:spcPts val="1800"/>
              </a:spcBef>
              <a:spcAft>
                <a:spcPts val="1800"/>
              </a:spcAft>
              <a:defRPr sz="3200">
                <a:solidFill>
                  <a:srgbClr val="FFFFFF"/>
                </a:solidFill>
              </a:defRPr>
            </a:pPr>
            <a:r>
              <a:t>💸 Payments: x402 micropayments (sub-cent)</a:t>
            </a:r>
          </a:p>
          <a:p>
            <a:pPr>
              <a:spcBef>
                <a:spcPts val="1800"/>
              </a:spcBef>
              <a:spcAft>
                <a:spcPts val="1800"/>
              </a:spcAft>
              <a:defRPr sz="3200">
                <a:solidFill>
                  <a:srgbClr val="FFFFFF"/>
                </a:solidFill>
              </a:defRPr>
            </a:pPr>
            <a:r>
              <a:t>🐳 Deployment: Docker + Oracle Cloud</a:t>
            </a:r>
          </a:p>
        </p:txBody>
      </p:sp>
      <p:sp>
        <p:nvSpPr>
          <p:cNvPr id="4" name="TextBox 3"/>
          <p:cNvSpPr txBox="1"/>
          <p:nvPr/>
        </p:nvSpPr>
        <p:spPr>
          <a:xfrm>
            <a:off x="914400" y="7132320"/>
            <a:ext cx="12801600" cy="731520"/>
          </a:xfrm>
          <a:prstGeom prst="rect">
            <a:avLst/>
          </a:prstGeom>
          <a:noFill/>
        </p:spPr>
        <p:txBody>
          <a:bodyPr wrap="none">
            <a:spAutoFit/>
          </a:bodyPr>
          <a:lstStyle/>
          <a:p>
            <a:pPr algn="ctr">
              <a:defRPr sz="1600" i="1">
                <a:solidFill>
                  <a:srgbClr val="969696"/>
                </a:solidFill>
              </a:defRPr>
            </a:pPr>
            <a:r>
              <a:t>[Add screenshot: Agent builder page showing deployment options]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914400" y="457200"/>
            <a:ext cx="12801600" cy="914400"/>
          </a:xfrm>
          <a:prstGeom prst="rect">
            <a:avLst/>
          </a:prstGeom>
          <a:noFill/>
        </p:spPr>
        <p:txBody>
          <a:bodyPr wrap="none">
            <a:spAutoFit/>
          </a:bodyPr>
          <a:lstStyle/>
          <a:p>
            <a:pPr algn="ctr">
              <a:defRPr sz="5400" b="1">
                <a:solidFill>
                  <a:srgbClr val="8A2BE2"/>
                </a:solidFill>
              </a:defRPr>
            </a:pPr>
            <a:r>
              <a:t>Why ParallaxPay?</a:t>
            </a:r>
          </a:p>
        </p:txBody>
      </p:sp>
      <p:sp>
        <p:nvSpPr>
          <p:cNvPr id="3" name="TextBox 2"/>
          <p:cNvSpPr txBox="1"/>
          <p:nvPr/>
        </p:nvSpPr>
        <p:spPr>
          <a:xfrm>
            <a:off x="1371600" y="1828800"/>
            <a:ext cx="11887200" cy="4114800"/>
          </a:xfrm>
          <a:prstGeom prst="rect">
            <a:avLst/>
          </a:prstGeom>
          <a:noFill/>
        </p:spPr>
        <p:txBody>
          <a:bodyPr wrap="square">
            <a:spAutoFit/>
          </a:bodyPr>
          <a:lstStyle/>
          <a:p/>
          <a:p>
            <a:pPr>
              <a:spcBef>
                <a:spcPts val="1200"/>
              </a:spcBef>
              <a:spcAft>
                <a:spcPts val="1200"/>
              </a:spcAft>
              <a:defRPr sz="3200">
                <a:solidFill>
                  <a:srgbClr val="FFFFFF"/>
                </a:solidFill>
              </a:defRPr>
            </a:pPr>
            <a:r>
              <a:t>✅ 152+ cryptocurrencies vs competitors' 4-5</a:t>
            </a:r>
          </a:p>
          <a:p>
            <a:pPr>
              <a:spcBef>
                <a:spcPts val="1200"/>
              </a:spcBef>
              <a:spcAft>
                <a:spcPts val="1200"/>
              </a:spcAft>
              <a:defRPr sz="3200">
                <a:solidFill>
                  <a:srgbClr val="FFFFFF"/>
                </a:solidFill>
              </a:defRPr>
            </a:pPr>
            <a:r>
              <a:t>✅ Real Parallax integration (not simulated)</a:t>
            </a:r>
          </a:p>
          <a:p>
            <a:pPr>
              <a:spcBef>
                <a:spcPts val="1200"/>
              </a:spcBef>
              <a:spcAft>
                <a:spcPts val="1200"/>
              </a:spcAft>
              <a:defRPr sz="3200">
                <a:solidFill>
                  <a:srgbClr val="FFFFFF"/>
                </a:solidFill>
              </a:defRPr>
            </a:pPr>
            <a:r>
              <a:t>✅ Real x402 micropayments (on-chain verification)</a:t>
            </a:r>
          </a:p>
          <a:p>
            <a:pPr>
              <a:spcBef>
                <a:spcPts val="1200"/>
              </a:spcBef>
              <a:spcAft>
                <a:spcPts val="1200"/>
              </a:spcAft>
              <a:defRPr sz="3200">
                <a:solidFill>
                  <a:srgbClr val="FFFFFF"/>
                </a:solidFill>
              </a:defRPr>
            </a:pPr>
            <a:r>
              <a:t>✅ 92% cost savings with transparent pricing</a:t>
            </a:r>
          </a:p>
          <a:p>
            <a:pPr>
              <a:spcBef>
                <a:spcPts val="1200"/>
              </a:spcBef>
              <a:spcAft>
                <a:spcPts val="1200"/>
              </a:spcAft>
              <a:defRPr sz="3200">
                <a:solidFill>
                  <a:srgbClr val="FFFFFF"/>
                </a:solidFill>
              </a:defRPr>
            </a:pPr>
            <a:r>
              <a:t>✅ Autonomous mode for 24/7 operation</a:t>
            </a:r>
          </a:p>
          <a:p>
            <a:pPr>
              <a:spcBef>
                <a:spcPts val="1200"/>
              </a:spcBef>
              <a:spcAft>
                <a:spcPts val="1200"/>
              </a:spcAft>
              <a:defRPr sz="3200">
                <a:solidFill>
                  <a:srgbClr val="FFFFFF"/>
                </a:solidFill>
              </a:defRPr>
            </a:pPr>
            <a:r>
              <a:t>✅ Production-ready with live deployment</a:t>
            </a:r>
          </a:p>
        </p:txBody>
      </p:sp>
      <p:sp>
        <p:nvSpPr>
          <p:cNvPr id="4" name="TextBox 3"/>
          <p:cNvSpPr txBox="1"/>
          <p:nvPr/>
        </p:nvSpPr>
        <p:spPr>
          <a:xfrm>
            <a:off x="914400" y="6400800"/>
            <a:ext cx="12801600" cy="731520"/>
          </a:xfrm>
          <a:prstGeom prst="rect">
            <a:avLst/>
          </a:prstGeom>
          <a:noFill/>
        </p:spPr>
        <p:txBody>
          <a:bodyPr wrap="none">
            <a:spAutoFit/>
          </a:bodyPr>
          <a:lstStyle/>
          <a:p>
            <a:pPr algn="ctr">
              <a:defRPr sz="3600" b="1">
                <a:solidFill>
                  <a:srgbClr val="00FFA3"/>
                </a:solidFill>
              </a:defRPr>
            </a:pPr>
            <a:r>
              <a:t>🌐 https://parallaxpay.online</a:t>
            </a:r>
          </a:p>
        </p:txBody>
      </p:sp>
      <p:sp>
        <p:nvSpPr>
          <p:cNvPr id="5" name="TextBox 4"/>
          <p:cNvSpPr txBox="1"/>
          <p:nvPr/>
        </p:nvSpPr>
        <p:spPr>
          <a:xfrm>
            <a:off x="914400" y="7315200"/>
            <a:ext cx="12801600" cy="731520"/>
          </a:xfrm>
          <a:prstGeom prst="rect">
            <a:avLst/>
          </a:prstGeom>
          <a:noFill/>
        </p:spPr>
        <p:txBody>
          <a:bodyPr wrap="none">
            <a:spAutoFit/>
          </a:bodyPr>
          <a:lstStyle/>
          <a:p>
            <a:pPr algn="ctr">
              <a:defRPr sz="2800" i="1">
                <a:solidFill>
                  <a:srgbClr val="FFFFFF"/>
                </a:solidFill>
              </a:defRPr>
            </a:pPr>
            <a:r>
              <a:t>Infrastructure for the Future of AI Agents on Solana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